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Plus Jakarta Sans"/>
      <p:bold r:id="rId12"/>
    </p:embeddedFont>
    <p:embeddedFont>
      <p:font typeface="Space Grotesk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514975"/>
            <a:ext cx="10972800" cy="7334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01250" y="647700"/>
            <a:ext cx="1581150" cy="304800"/>
          </a:xfrm>
          <a:prstGeom prst="roundRect">
            <a:avLst>
              <a:gd name="adj" fmla="val 50000"/>
            </a:avLst>
          </a:prstGeom>
          <a:solidFill>
            <a:srgbClr val="1A285E"/>
          </a:solidFill>
          <a:ln w="9525">
            <a:solidFill>
              <a:srgbClr val="2D43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51497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8293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52675" y="58293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905250" y="58293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09600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" y="704850"/>
            <a:ext cx="2190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34600" y="704850"/>
            <a:ext cx="14097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PROJECT REVIEW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350889"/>
            <a:ext cx="107156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Plus Jakarta Sans"/>
              </a:rPr>
              <a:t>DATABASE MODELLING &amp; FULL-STACK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684264"/>
            <a:ext cx="910113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Intelligent Hospital Data &amp; Patient Monitoring Management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964185"/>
            <a:ext cx="86677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  <a:latin typeface="Plus Jakarta Sans"/>
              </a:rPr>
              <a:t> MariaDB Data Tier &amp; Django REST Framework Integration with Real-Time Vital Signs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676275"/>
            <a:ext cx="388739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Space Grotesk"/>
              </a:rPr>
              <a:t>VELLORE INSTITUTE OF TECHNOLOGY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25" y="58293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09800" y="58293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BV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2375" y="5829300"/>
            <a:ext cx="70485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38BDF8"/>
                </a:solidFill>
                <a:latin typeface="Plus Jakarta Sans"/>
              </a:rPr>
              <a:t>JT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862637"/>
            <a:ext cx="1190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N C Deepika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6062662"/>
            <a:ext cx="1190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26MAI0051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6075" y="5862637"/>
            <a:ext cx="1000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>
                <a:solidFill>
                  <a:srgbClr val="FFFFFF"/>
                </a:solidFill>
                <a:latin typeface="Plus Jakarta Sans"/>
              </a:rPr>
              <a:t>Bharath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6075" y="6062662"/>
            <a:ext cx="10001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26MAI0070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8650" y="5862637"/>
            <a:ext cx="9810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Jayant TN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8650" y="6062662"/>
            <a:ext cx="9810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26MAI0074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982075" y="604837"/>
            <a:ext cx="2600325" cy="2857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266825"/>
            <a:ext cx="25717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9950" y="1266825"/>
            <a:ext cx="25717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1266825"/>
            <a:ext cx="25717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1266825"/>
            <a:ext cx="2571750" cy="1362075"/>
          </a:xfrm>
          <a:prstGeom prst="roundRect">
            <a:avLst>
              <a:gd name="adj" fmla="val 111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2895600"/>
            <a:ext cx="3505200" cy="35052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43400" y="2895600"/>
            <a:ext cx="3505200" cy="35052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77200" y="2895600"/>
            <a:ext cx="3505200" cy="3505200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57425"/>
            <a:ext cx="104775" cy="1238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8075" y="2257425"/>
            <a:ext cx="104775" cy="1238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257425"/>
            <a:ext cx="104775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8775" y="2257425"/>
            <a:ext cx="104775" cy="1238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167187"/>
            <a:ext cx="152400" cy="1714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1525" y="4167187"/>
            <a:ext cx="1524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5325" y="4057650"/>
            <a:ext cx="219075" cy="1714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5057775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Review 2 Execution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5425" y="661987"/>
            <a:ext cx="2428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100% CORE FEATURES 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57225"/>
            <a:ext cx="6513314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Milestone Overview &amp; Key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1504950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PATIENT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1714500"/>
            <a:ext cx="261937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2563EB"/>
                </a:solidFill>
                <a:latin typeface="Plus Jakarta Sans"/>
              </a:rPr>
              <a:t>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25" y="2238375"/>
            <a:ext cx="2619375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Verified Seed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48075" y="1504950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APPOINTMENTS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48075" y="1714500"/>
            <a:ext cx="261937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284C7"/>
                </a:solidFill>
                <a:latin typeface="Plus Jakarta Sans"/>
              </a:rPr>
              <a:t>800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48075" y="2238375"/>
            <a:ext cx="2619375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Multi-Status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8425" y="1504950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DEPARTMENTS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8425" y="1714500"/>
            <a:ext cx="261937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7C3AED"/>
                </a:solidFill>
                <a:latin typeface="Plus Jakarta Sans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8425" y="2238375"/>
            <a:ext cx="2619375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24 Fictional Doctors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8775" y="1504950"/>
            <a:ext cx="26193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TEST SUITE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48775" y="1714500"/>
            <a:ext cx="2619375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59669"/>
                </a:solidFill>
                <a:latin typeface="Plus Jakarta Sans"/>
              </a:rPr>
              <a:t>7/7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48775" y="2238375"/>
            <a:ext cx="2619375" cy="152400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F172A"/>
                </a:solidFill>
                <a:latin typeface="Plus Jakarta Sans"/>
              </a:rPr>
              <a:t>All Test Cases Passed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725" y="4138612"/>
            <a:ext cx="3975496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Relational Schema &amp; Views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7725" y="4433887"/>
            <a:ext cx="31242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11 normalized tables with 3 dynamic analytical views for appointment summaries, doctor workloads, and real-time patient alert feeds.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81525" y="4138612"/>
            <a:ext cx="3975496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Automated Vital Sign Triggers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81525" y="4433887"/>
            <a:ext cx="31242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MariaDB trigger automatically generates critical alerts for abnormal heart rate, low oxygen saturation (&lt;90%), and high body temperatures.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5325" y="4029075"/>
            <a:ext cx="3280410" cy="438150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Stored Procedures &amp; Stock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15325" y="4543425"/>
            <a:ext cx="31242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Encapsulated business logic for appointment scheduling, patient history lookups, and inventory validation to block insufficient stock prescriptions.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547937"/>
            <a:ext cx="3505200" cy="2609850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33662"/>
            <a:ext cx="3505200" cy="24384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33662"/>
            <a:ext cx="3505200" cy="24384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148262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547937"/>
            <a:ext cx="35052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547937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05275" y="2547937"/>
            <a:ext cx="9525" cy="26098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50625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2633662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2633662"/>
            <a:ext cx="9525" cy="2438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39075" y="2633662"/>
            <a:ext cx="9525" cy="2438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77200" y="5062537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77200" y="2633662"/>
            <a:ext cx="3505200" cy="381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77200" y="2633662"/>
            <a:ext cx="9525" cy="2438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2633662"/>
            <a:ext cx="9525" cy="24384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890837"/>
            <a:ext cx="457200" cy="457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976562"/>
            <a:ext cx="457200" cy="457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976562"/>
            <a:ext cx="457200" cy="457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37" y="3005137"/>
            <a:ext cx="257175" cy="2286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2025" y="3090862"/>
            <a:ext cx="2286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0112" y="3090862"/>
            <a:ext cx="200025" cy="2286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9600" y="4572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System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3-Tier Full-Stack System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925" y="3500437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Presentation Tier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925" y="3862387"/>
            <a:ext cx="3595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React 19 + Vite + Tailwind CSS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925" y="4157662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Interactive dashboard, real-time alert widgets, and role-based views for administrators, doctors, and medical receptionists.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7725" y="358616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Application Tier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57725" y="3948112"/>
            <a:ext cx="3595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Django 5.0 REST Framework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7725" y="4243387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RESTful API endpoints, OpenAPI contract definitions, authentication controls, and transactional ORM operations.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1525" y="3586162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Data Tier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1525" y="3948112"/>
            <a:ext cx="359568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64748B"/>
                </a:solidFill>
                <a:latin typeface="Plus Jakarta Sans"/>
              </a:rPr>
              <a:t>MariaDB Server 10.11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1525" y="4243387"/>
            <a:ext cx="29718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Plus Jakarta Sans"/>
              </a:rPr>
              <a:t>Normalized relational tables, automated triggers, stored procedures, multi-column indexes, and analytical 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548812" y="604837"/>
            <a:ext cx="2033587" cy="285750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857797"/>
            <a:ext cx="2600325" cy="1913929"/>
          </a:xfrm>
          <a:prstGeom prst="roundRect">
            <a:avLst>
              <a:gd name="adj" fmla="val 796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00425" y="2977753"/>
            <a:ext cx="2600325" cy="1674018"/>
          </a:xfrm>
          <a:prstGeom prst="roundRect">
            <a:avLst>
              <a:gd name="adj" fmla="val 910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3217664"/>
            <a:ext cx="2600325" cy="1194196"/>
          </a:xfrm>
          <a:prstGeom prst="roundRect">
            <a:avLst>
              <a:gd name="adj" fmla="val 12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82075" y="3097708"/>
            <a:ext cx="2600325" cy="1434107"/>
          </a:xfrm>
          <a:prstGeom prst="roundRect">
            <a:avLst>
              <a:gd name="adj" fmla="val 1062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3076872"/>
            <a:ext cx="1905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3196828"/>
            <a:ext cx="1333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1275" y="3436739"/>
            <a:ext cx="15240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2100" y="3316783"/>
            <a:ext cx="171450" cy="152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71056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2162" y="661987"/>
            <a:ext cx="186213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730A3"/>
                </a:solidFill>
                <a:latin typeface="Plus Jakarta Sans"/>
              </a:rPr>
              <a:t>3RD NORMAL FORM (3NF)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57225"/>
            <a:ext cx="920115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Normalized Relational Schema (11 Core Entities)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057822"/>
            <a:ext cx="2887860" cy="2000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Space Grotesk"/>
              </a:rPr>
              <a:t>Patient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3177778"/>
            <a:ext cx="2887860" cy="200025"/>
          </a:xfrm>
          <a:prstGeom prst="rect">
            <a:avLst/>
          </a:prstGeom>
          <a:noFill/>
        </p:spPr>
        <p:txBody>
          <a:bodyPr wrap="none" lIns="1333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Space Grotesk"/>
              </a:rPr>
              <a:t>Clinical Staff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275" y="3417689"/>
            <a:ext cx="2887860" cy="20002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Space Grotesk"/>
              </a:rPr>
              <a:t>Patient 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2100" y="3297733"/>
            <a:ext cx="2887860" cy="200025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59669"/>
                </a:solidFill>
                <a:latin typeface="Space Grotesk"/>
              </a:rPr>
              <a:t>Pharmacy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372147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patients: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Demographics &amp; contact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3612058"/>
            <a:ext cx="22955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admissions: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Inpatient bed allocations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4091880"/>
            <a:ext cx="22955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medical_records: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Clinical visit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450" y="3492103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departments: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8 Hospital blocks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0450" y="3732014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doctors: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Qualifications &amp; specs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450" y="3971925"/>
            <a:ext cx="2295525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appointments: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800 Scheduled visits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275" y="3732014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vital_signs: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HR, BP, SpO2, Temp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275" y="3971925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alerts: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Real-time critical events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2100" y="3612058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prescriptions: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Issued orders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2100" y="3851969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medicines: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Stock inventory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2100" y="4091880"/>
            <a:ext cx="2750343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1" i="0" u="none">
                <a:solidFill>
                  <a:srgbClr val="475569"/>
                </a:solidFill>
                <a:latin typeface="Plus Jakarta Sans"/>
              </a:rPr>
              <a:t>prescription_medicines: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Junction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4175"/>
            <a:ext cx="3514725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52925" y="2924175"/>
            <a:ext cx="3500437" cy="1819275"/>
          </a:xfrm>
          <a:prstGeom prst="roundRect">
            <a:avLst>
              <a:gd name="adj" fmla="val 83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81962" y="3009900"/>
            <a:ext cx="3500437" cy="1647825"/>
          </a:xfrm>
          <a:prstGeom prst="roundRect">
            <a:avLst>
              <a:gd name="adj" fmla="val 924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4733925"/>
            <a:ext cx="351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2924175"/>
            <a:ext cx="35147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2924175"/>
            <a:ext cx="38100" cy="18192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0" y="2924175"/>
            <a:ext cx="9525" cy="1819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52925" y="4733925"/>
            <a:ext cx="3500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52925" y="2924175"/>
            <a:ext cx="3500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52925" y="2924175"/>
            <a:ext cx="38100" cy="18192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43837" y="2924175"/>
            <a:ext cx="9525" cy="181927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81962" y="4648200"/>
            <a:ext cx="3500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81962" y="3009900"/>
            <a:ext cx="35004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81962" y="3009900"/>
            <a:ext cx="38100" cy="164782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572875" y="3009900"/>
            <a:ext cx="9525" cy="1647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9600" y="4572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Database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Analytical Database Views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38504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vw_patient_appointment_summary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95675"/>
            <a:ext cx="366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Patient Appointment Summaries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81425"/>
            <a:ext cx="30289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Consolidates patient personal details, attending doctor names, scheduled dates, and current appointment status into a unified reporting stream.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7725" y="3200400"/>
            <a:ext cx="38317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vw_doctor_workload_summary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7725" y="3495675"/>
            <a:ext cx="36492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Clinical Workload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7725" y="3781425"/>
            <a:ext cx="301466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Aggregates appointments per physician, tracking total completed, scheduled, and cancelled patient consultations per department.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6762" y="3286125"/>
            <a:ext cx="38052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vw_patient_monitoring_alerts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6762" y="3581400"/>
            <a:ext cx="364926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Plus Jakarta Sans"/>
              </a:rPr>
              <a:t>Real-Time Alert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6762" y="3867150"/>
            <a:ext cx="30146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Merges vital sign telemetry with inpatient bed numbers and active unacknowledged alert triggers for immediate medical response.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62237"/>
            <a:ext cx="5372100" cy="230505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38437"/>
            <a:ext cx="5372100" cy="2152650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928937"/>
            <a:ext cx="152400" cy="171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3005137"/>
            <a:ext cx="219075" cy="171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Automation &amp; Business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Database Triggers &amp; Stored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2900362"/>
            <a:ext cx="6425803" cy="219075"/>
          </a:xfrm>
          <a:prstGeom prst="rect">
            <a:avLst/>
          </a:prstGeom>
          <a:noFill/>
        </p:spPr>
        <p:txBody>
          <a:bodyPr wrap="none" lIns="1524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C2626"/>
                </a:solidFill>
                <a:latin typeface="Space Grotesk"/>
              </a:rPr>
              <a:t>Automated Triggers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2976562"/>
            <a:ext cx="5743575" cy="219075"/>
          </a:xfrm>
          <a:prstGeom prst="rect">
            <a:avLst/>
          </a:prstGeom>
          <a:noFill/>
        </p:spPr>
        <p:txBody>
          <a:bodyPr wrap="none" lIns="2190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Space Grotesk"/>
              </a:rPr>
              <a:t>Stored Procedures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271837"/>
            <a:ext cx="611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trg_vital_sign_alert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3452812"/>
            <a:ext cx="49911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Generates alerts instantly when heart rate &gt;100, SpO2 &lt;90%, or temperature &gt;38.0°C.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910012"/>
            <a:ext cx="611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trg_check_medicine_stock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4090987"/>
            <a:ext cx="611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Prevents prescription insertion if requested quantity exceeds current inventory.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4395787"/>
            <a:ext cx="611981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trg_reduce_medicine_stock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576762"/>
            <a:ext cx="611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Automatically decrements stock levels upon verified prescription entry.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3348037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sp_patient_appointments(p_patient_id)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52901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Retrieves complete appointment history for a given patient ID.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833812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sp_schedule_appointment(...)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4014787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Validates patient &amp; doctor existence prior to inserting new appointments.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319587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sp_low_stock_medicines()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500562"/>
            <a:ext cx="57435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Queries inventory tables for all medicines with stock levels ≤ 100 units.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09875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09875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09875"/>
            <a:ext cx="3505200" cy="2047875"/>
          </a:xfrm>
          <a:prstGeom prst="roundRect">
            <a:avLst>
              <a:gd name="adj" fmla="val 74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086100"/>
            <a:ext cx="766762" cy="2857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086100"/>
            <a:ext cx="785812" cy="28575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086100"/>
            <a:ext cx="795337" cy="28575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Optimization &amp;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Database Indexing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3143250"/>
            <a:ext cx="59531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INDEX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4861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idx_patients_name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814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ON patients(last_name, first_name)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067175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Accelerates patient search and lookup operations in reception workflows from O(N) full table scan to B-Tree O(log N).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2975" y="3143250"/>
            <a:ext cx="61436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Plus Jakarta Sans"/>
              </a:rPr>
              <a:t>INDEX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486150"/>
            <a:ext cx="387548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idx_appointments_status_date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7814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ON appointments(status, appointment_date)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4067175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Optimizes doctor daily schedule views and filters for scheduled vs completed consultations.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6775" y="3143250"/>
            <a:ext cx="623887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91B1B"/>
                </a:solidFill>
                <a:latin typeface="Plus Jakarta Sans"/>
              </a:rPr>
              <a:t>INDEX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486150"/>
            <a:ext cx="38385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idx_alerts_unacknowledged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3425" y="3781425"/>
            <a:ext cx="36909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ON alerts(severity, acknowledged_at)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425" y="4067175"/>
            <a:ext cx="3048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Ensures sub-millisecond query execution when rendering live emergency alert banners for ICU nurses.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133600"/>
            <a:ext cx="5372100" cy="3362325"/>
          </a:xfrm>
          <a:prstGeom prst="roundRect">
            <a:avLst>
              <a:gd name="adj" fmla="val 4532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733675"/>
            <a:ext cx="5372100" cy="2162175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2686050"/>
            <a:ext cx="4895850" cy="2305050"/>
          </a:xfrm>
          <a:prstGeom prst="roundRect">
            <a:avLst>
              <a:gd name="adj" fmla="val 4958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3395662"/>
            <a:ext cx="114300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3662362"/>
            <a:ext cx="114300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3929062"/>
            <a:ext cx="114300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4195762"/>
            <a:ext cx="114300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4462462"/>
            <a:ext cx="114300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Data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57225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Complex SQL Analytical Queries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371725"/>
            <a:ext cx="64258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Multi-Table Alert Aggregation Query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2838450"/>
            <a:ext cx="4686300" cy="2000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monospace"/>
              </a:rPr>
              <a:t>SELECT p.patient_id, p.first_name, COUNT(DISTINCT al.alert_id) AS total_alerts FROM patients p JOIN admissions ad ON p.patient_id = ad.patient_id JOIN vital_signs v ON ad.admission_id = v.admission_id JOIN alerts al ON v.vital_id = al.vital_id WHERE al.severity IN ('High', 'Critical') AND al.acknowledged_at IS NULL GROUP BY p.patient_id HAVING COUNT(DISTINCT al.alert_id) &gt;= 2;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5105400"/>
            <a:ext cx="611981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Identifies high-risk patients with 2+ unacknowledged critical vital sign warnings.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971800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Space Grotesk"/>
              </a:rPr>
              <a:t>Executed Analytical Patterns (15 Queries)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2838450"/>
            <a:ext cx="4686300" cy="2000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monospace"/>
              </a:rPr>
              <a:t>SELECT p.patient_id, p.first_name, COUNT(DISTINCT al.alert_id) AS total_alerts FROM patients p JOIN admissions ad ON p.patient_id = ad.patient_id JOIN vital_signs v ON ad.admission_id = v.admission_id JOIN alerts al ON v.vital_id = al.vital_id WHERE al.severity IN ('High', 'Critical') AND al.acknowledged_at IS NULL GROUP BY p.patient_id HAVING COUNT(DISTINCT al.alert_id) &gt;= 2;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324225"/>
            <a:ext cx="57435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INNER / LEFT JOINs: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Doctor schedules &amp; appointments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590925"/>
            <a:ext cx="57435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Subqueries &amp; IN: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Distinct doctor specialty lookups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3857625"/>
            <a:ext cx="57435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HAVING Clause: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Doctors with &gt;20 appointments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4124325"/>
            <a:ext cx="57435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Conditional Logic: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CASE statement vital sign classification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391025"/>
            <a:ext cx="5743575" cy="266700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050" b="1" i="0" u="none">
                <a:solidFill>
                  <a:srgbClr val="334155"/>
                </a:solidFill>
                <a:latin typeface="Plus Jakarta Sans"/>
              </a:rPr>
              <a:t>Outer Joins:</a:t>
            </a:r>
            <a:r>
              <a:rPr sz="1050" b="0" i="0" u="none">
                <a:solidFill>
                  <a:srgbClr val="334155"/>
                </a:solidFill>
                <a:latin typeface="Plus Jakarta Sans"/>
              </a:rPr>
              <a:t> Unadmitted patients &amp; zero-appointment lists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515600" y="604837"/>
            <a:ext cx="1066800" cy="2857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14362" y="2500312"/>
            <a:ext cx="1030783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146" y="2500312"/>
            <a:ext cx="3975199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20345" y="2500312"/>
            <a:ext cx="3839914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460259" y="2500312"/>
            <a:ext cx="2117377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4362" y="2943225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45146" y="2943225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20345" y="2943225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60259" y="2943225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362" y="3371850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645146" y="3371850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20345" y="3371850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460259" y="3371850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4362" y="3800475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645146" y="3800475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20345" y="3800475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460259" y="3800475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362" y="4229100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645146" y="4229100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20345" y="4229100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460259" y="4229100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362" y="4657725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645146" y="4657725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20345" y="4657725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60259" y="4657725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362" y="5086350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45146" y="5086350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620345" y="5086350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460259" y="5086350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14362" y="5514975"/>
            <a:ext cx="10307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645146" y="5514975"/>
            <a:ext cx="397519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620345" y="5514975"/>
            <a:ext cx="3839914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60259" y="5514975"/>
            <a:ext cx="211737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09600" y="2100262"/>
            <a:ext cx="10972800" cy="34290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609600" y="2100262"/>
          <a:ext cx="10963273" cy="3429000"/>
        </p:xfrm>
        <a:graphic>
          <a:graphicData uri="http://schemas.openxmlformats.org/drawingml/2006/table">
            <a:tbl>
              <a:tblPr/>
              <a:tblGrid>
                <a:gridCol w="1030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51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39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73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Test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Objective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Target SQL / 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Result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Retrieve Patient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SELECT * FROM patients LIMIT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(500 total)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Appointments with Doctor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JOIN appointments AND doctors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 (800 total)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Patient Appointment Summary 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vw_patient_appointment_summary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Automatic Alert Generation Trigger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trg_vital_sign_alert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Patient Appointments Stored Procedure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CALL sp_patient_appointments(2)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Verify Patient Name Index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idx_patients_name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TC_07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Identify Patients with Multiple Alerts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JOIN + GROUP BY + HAVING &gt;= 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PASSED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7" name="TextBox 36"/>
          <p:cNvSpPr txBox="1"/>
          <p:nvPr/>
        </p:nvSpPr>
        <p:spPr>
          <a:xfrm>
            <a:off x="609600" y="457200"/>
            <a:ext cx="531495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Quality Assurance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48950" y="661987"/>
            <a:ext cx="895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7/7 PASSED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600" y="657225"/>
            <a:ext cx="6850856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Space Grotesk"/>
              </a:rPr>
              <a:t>Test Cases &amp; Verification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9600" y="5810250"/>
            <a:ext cx="109728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03290"/>
            <a:ext cx="4219575" cy="847725"/>
          </a:xfrm>
          <a:prstGeom prst="roundRect">
            <a:avLst>
              <a:gd name="adj" fmla="val 17977"/>
            </a:avLst>
          </a:prstGeom>
          <a:solidFill>
            <a:srgbClr val="232545"/>
          </a:solidFill>
          <a:ln w="9525">
            <a:solidFill>
              <a:srgbClr val="2E30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5810250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3974752"/>
            <a:ext cx="295275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638175"/>
            <a:ext cx="3524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38BDF8"/>
                </a:solidFill>
                <a:latin typeface="Space Grotesk"/>
              </a:rPr>
              <a:t>Review 2 Completion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173634"/>
            <a:ext cx="11582400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FFFFF"/>
                </a:solidFill>
                <a:latin typeface="Space Grotesk"/>
              </a:rPr>
              <a:t>Project Deliverables &amp; Code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849909"/>
            <a:ext cx="77152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Database schema, sample seeds (500 patients, 800 appointments), triggers, procedures, views, and Django/React codebases are synchronized and hosted on GitHub.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62662"/>
            <a:ext cx="456009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Intelligent Hospital Monitor — Database Modelling &amp;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01300" y="6048375"/>
            <a:ext cx="1476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Thank You!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3669" y="3911139"/>
            <a:ext cx="41195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94A3B8"/>
                </a:solidFill>
                <a:latin typeface="Plus Jakarta Sans"/>
              </a:rPr>
              <a:t>GITHUB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4093815"/>
            <a:ext cx="41195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FFFFFF"/>
                </a:solidFill>
                <a:latin typeface="Plus Jakarta Sans"/>
              </a:rPr>
              <a:t>https://github.com/DeepikaNC/DBMS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863593-CDFD-5AEF-A901-13DC395AEA1A}"/>
              </a:ext>
            </a:extLst>
          </p:cNvPr>
          <p:cNvSpPr/>
          <p:nvPr/>
        </p:nvSpPr>
        <p:spPr>
          <a:xfrm>
            <a:off x="624590" y="4811843"/>
            <a:ext cx="4219575" cy="726944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050" dirty="0">
                <a:solidFill>
                  <a:srgbClr val="94A3B8"/>
                </a:solidFill>
                <a:latin typeface="Plus Jakarta Sans"/>
              </a:rPr>
              <a:t>              </a:t>
            </a:r>
            <a:r>
              <a:rPr lang="en-IN" sz="1050" dirty="0">
                <a:solidFill>
                  <a:schemeClr val="bg1"/>
                </a:solidFill>
                <a:latin typeface="Plus Jakarta Sans"/>
              </a:rPr>
              <a:t>https://gith ub.com/Bharathv12-std/Intelligent-Hospital-Monitor</a:t>
            </a:r>
          </a:p>
        </p:txBody>
      </p:sp>
      <p:pic>
        <p:nvPicPr>
          <p:cNvPr id="21" name="Picture 20" descr="image.png">
            <a:extLst>
              <a:ext uri="{FF2B5EF4-FFF2-40B4-BE49-F238E27FC236}">
                <a16:creationId xmlns:a16="http://schemas.microsoft.com/office/drawing/2014/main" id="{A1372234-72AB-50B2-759C-55154678A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4" y="4997222"/>
            <a:ext cx="295275" cy="30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1157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Calibri</vt:lpstr>
      <vt:lpstr>Arial</vt:lpstr>
      <vt:lpstr>Space Grotesk</vt:lpstr>
      <vt:lpstr>Plus Jakarta Sans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Bharath V</cp:lastModifiedBy>
  <cp:revision>2</cp:revision>
  <dcterms:created xsi:type="dcterms:W3CDTF">2013-01-27T09:14:16Z</dcterms:created>
  <dcterms:modified xsi:type="dcterms:W3CDTF">2026-10-18T18:04:38Z</dcterms:modified>
  <cp:category/>
</cp:coreProperties>
</file>